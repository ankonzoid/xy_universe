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22" Type="http://schemas.openxmlformats.org/officeDocument/2006/relationships/font" Target="fonts/Lato-bold.fntdata"/><Relationship Id="rId10" Type="http://schemas.openxmlformats.org/officeDocument/2006/relationships/slide" Target="slides/slide6.xml"/><Relationship Id="rId21" Type="http://schemas.openxmlformats.org/officeDocument/2006/relationships/font" Target="fonts/Lato-regular.fntdata"/><Relationship Id="rId13" Type="http://schemas.openxmlformats.org/officeDocument/2006/relationships/slide" Target="slides/slide9.xml"/><Relationship Id="rId24" Type="http://schemas.openxmlformats.org/officeDocument/2006/relationships/font" Target="fonts/Lato-boldItalic.fntdata"/><Relationship Id="rId12" Type="http://schemas.openxmlformats.org/officeDocument/2006/relationships/slide" Target="slides/slide8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100"/>
              <a:buChar char="●"/>
              <a:defRPr sz="1100"/>
            </a:lvl1pPr>
            <a:lvl2pPr lvl="1">
              <a:spcBef>
                <a:spcPts val="0"/>
              </a:spcBef>
              <a:buSzPts val="1100"/>
              <a:buChar char="○"/>
              <a:defRPr sz="1100"/>
            </a:lvl2pPr>
            <a:lvl3pPr lvl="2">
              <a:spcBef>
                <a:spcPts val="0"/>
              </a:spcBef>
              <a:buSzPts val="1100"/>
              <a:buChar char="■"/>
              <a:defRPr sz="1100"/>
            </a:lvl3pPr>
            <a:lvl4pPr lvl="3">
              <a:spcBef>
                <a:spcPts val="0"/>
              </a:spcBef>
              <a:buSzPts val="1100"/>
              <a:buChar char="●"/>
              <a:defRPr sz="1100"/>
            </a:lvl4pPr>
            <a:lvl5pPr lvl="4">
              <a:spcBef>
                <a:spcPts val="0"/>
              </a:spcBef>
              <a:buSzPts val="1100"/>
              <a:buChar char="○"/>
              <a:defRPr sz="1100"/>
            </a:lvl5pPr>
            <a:lvl6pPr lvl="5">
              <a:spcBef>
                <a:spcPts val="0"/>
              </a:spcBef>
              <a:buSzPts val="1100"/>
              <a:buChar char="■"/>
              <a:defRPr sz="1100"/>
            </a:lvl6pPr>
            <a:lvl7pPr lvl="6">
              <a:spcBef>
                <a:spcPts val="0"/>
              </a:spcBef>
              <a:buSzPts val="1100"/>
              <a:buChar char="●"/>
              <a:defRPr sz="1100"/>
            </a:lvl7pPr>
            <a:lvl8pPr lvl="7">
              <a:spcBef>
                <a:spcPts val="0"/>
              </a:spcBef>
              <a:buSzPts val="1100"/>
              <a:buChar char="○"/>
              <a:defRPr sz="1100"/>
            </a:lvl8pPr>
            <a:lvl9pPr lvl="8">
              <a:spcBef>
                <a:spcPts val="0"/>
              </a:spcBef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Shape 1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Shape 16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Shape 1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Shape 19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Shape 20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Shape 20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Shape 21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Shape 22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Shape 23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11" name="Shape 11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Shape 1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4" name="Shape 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5" name="Shape 15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Shape 16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4000"/>
              <a:buNone/>
              <a:defRPr sz="4000"/>
            </a:lvl1pPr>
            <a:lvl2pPr lvl="1">
              <a:spcBef>
                <a:spcPts val="0"/>
              </a:spcBef>
              <a:buSzPts val="4000"/>
              <a:buNone/>
              <a:defRPr sz="4000"/>
            </a:lvl2pPr>
            <a:lvl3pPr lvl="2">
              <a:spcBef>
                <a:spcPts val="0"/>
              </a:spcBef>
              <a:buSzPts val="4000"/>
              <a:buNone/>
              <a:defRPr sz="4000"/>
            </a:lvl3pPr>
            <a:lvl4pPr lvl="3">
              <a:spcBef>
                <a:spcPts val="0"/>
              </a:spcBef>
              <a:buSzPts val="4000"/>
              <a:buNone/>
              <a:defRPr sz="4000"/>
            </a:lvl4pPr>
            <a:lvl5pPr lvl="4">
              <a:spcBef>
                <a:spcPts val="0"/>
              </a:spcBef>
              <a:buSzPts val="4000"/>
              <a:buNone/>
              <a:defRPr sz="4000"/>
            </a:lvl5pPr>
            <a:lvl6pPr lvl="5">
              <a:spcBef>
                <a:spcPts val="0"/>
              </a:spcBef>
              <a:buSzPts val="4000"/>
              <a:buNone/>
              <a:defRPr sz="4000"/>
            </a:lvl6pPr>
            <a:lvl7pPr lvl="6">
              <a:spcBef>
                <a:spcPts val="0"/>
              </a:spcBef>
              <a:buSzPts val="4000"/>
              <a:buNone/>
              <a:defRPr sz="4000"/>
            </a:lvl7pPr>
            <a:lvl8pPr lvl="7">
              <a:spcBef>
                <a:spcPts val="0"/>
              </a:spcBef>
              <a:buSzPts val="4000"/>
              <a:buNone/>
              <a:defRPr sz="4000"/>
            </a:lvl8pPr>
            <a:lvl9pPr lvl="8">
              <a:spcBef>
                <a:spcPts val="0"/>
              </a:spcBef>
              <a:buSzPts val="4000"/>
              <a:buNone/>
              <a:defRPr sz="4000"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Shape 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secHead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Shape 20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Shape 2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2" name="Shape 2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4" name="Shape 2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5" name="Shape 2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8" name="Shape 28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9" name="Shape 2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0" name="Shape 3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1" name="Shape 3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2" name="Shape 3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3" name="Shape 3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4" name="Shape 3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5" name="Shape 3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6" name="Shape 3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7" name="Shape 3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8" name="Shape 38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Shape 3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x">
  <p:cSld name="Title and 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Shape 4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Shape 4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Shape 4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ColTx">
  <p:cSld name="Title and two 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Shape 4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Shape 5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Shape 5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54" name="Shape 54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Shape 5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Shape 5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Shape 6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61" name="Shape 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One column 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Shape 63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Shape 6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Shape 66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67" name="Shape 6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68" name="Shape 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ain 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Shape 7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Shape 7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" name="Shape 72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3" name="Shape 73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4" name="Shape 74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5" name="Shape 75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6" name="Shape 76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7" name="Shape 77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8" name="Shape 7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9" name="Shape 7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0" name="Shape 8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1" name="Shape 8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" name="Shape 82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" name="Shape 83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" name="Shape 84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" name="Shape 86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Shape 89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SzPts val="2800"/>
              <a:buNone/>
              <a:defRPr/>
            </a:lvl1pPr>
            <a:lvl2pPr lvl="1">
              <a:spcBef>
                <a:spcPts val="0"/>
              </a:spcBef>
              <a:buSzPts val="2800"/>
              <a:buNone/>
              <a:defRPr/>
            </a:lvl2pPr>
            <a:lvl3pPr lvl="2">
              <a:spcBef>
                <a:spcPts val="0"/>
              </a:spcBef>
              <a:buSzPts val="2800"/>
              <a:buNone/>
              <a:defRPr/>
            </a:lvl3pPr>
            <a:lvl4pPr lvl="3">
              <a:spcBef>
                <a:spcPts val="0"/>
              </a:spcBef>
              <a:buSzPts val="2800"/>
              <a:buNone/>
              <a:defRPr/>
            </a:lvl4pPr>
            <a:lvl5pPr lvl="4">
              <a:spcBef>
                <a:spcPts val="0"/>
              </a:spcBef>
              <a:buSzPts val="2800"/>
              <a:buNone/>
              <a:defRPr/>
            </a:lvl5pPr>
            <a:lvl6pPr lvl="5">
              <a:spcBef>
                <a:spcPts val="0"/>
              </a:spcBef>
              <a:buSzPts val="2800"/>
              <a:buNone/>
              <a:defRPr/>
            </a:lvl6pPr>
            <a:lvl7pPr lvl="6">
              <a:spcBef>
                <a:spcPts val="0"/>
              </a:spcBef>
              <a:buSzPts val="2800"/>
              <a:buNone/>
              <a:defRPr/>
            </a:lvl7pPr>
            <a:lvl8pPr lvl="7">
              <a:spcBef>
                <a:spcPts val="0"/>
              </a:spcBef>
              <a:buSzPts val="2800"/>
              <a:buNone/>
              <a:defRPr/>
            </a:lvl8pPr>
            <a:lvl9pPr lvl="8">
              <a:spcBef>
                <a:spcPts val="0"/>
              </a:spcBef>
              <a:buSzPts val="2800"/>
              <a:buNone/>
              <a:defRPr/>
            </a:lvl9pPr>
          </a:lstStyle>
          <a:p/>
        </p:txBody>
      </p:sp>
      <p:sp>
        <p:nvSpPr>
          <p:cNvPr id="90" name="Shape 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ection title and 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Shape 9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Shape 9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" name="Shape 9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Shape 95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2400"/>
              <a:buNone/>
              <a:defRPr sz="2400"/>
            </a:lvl1pPr>
            <a:lvl2pPr lvl="1">
              <a:spcBef>
                <a:spcPts val="0"/>
              </a:spcBef>
              <a:buSzPts val="2400"/>
              <a:buNone/>
              <a:defRPr sz="2400"/>
            </a:lvl2pPr>
            <a:lvl3pPr lvl="2">
              <a:spcBef>
                <a:spcPts val="0"/>
              </a:spcBef>
              <a:buSzPts val="2400"/>
              <a:buNone/>
              <a:defRPr sz="2400"/>
            </a:lvl3pPr>
            <a:lvl4pPr lvl="3">
              <a:spcBef>
                <a:spcPts val="0"/>
              </a:spcBef>
              <a:buSzPts val="2400"/>
              <a:buNone/>
              <a:defRPr sz="2400"/>
            </a:lvl4pPr>
            <a:lvl5pPr lvl="4">
              <a:spcBef>
                <a:spcPts val="0"/>
              </a:spcBef>
              <a:buSzPts val="2400"/>
              <a:buNone/>
              <a:defRPr sz="2400"/>
            </a:lvl5pPr>
            <a:lvl6pPr lvl="5">
              <a:spcBef>
                <a:spcPts val="0"/>
              </a:spcBef>
              <a:buSzPts val="2400"/>
              <a:buNone/>
              <a:defRPr sz="2400"/>
            </a:lvl6pPr>
            <a:lvl7pPr lvl="6">
              <a:spcBef>
                <a:spcPts val="0"/>
              </a:spcBef>
              <a:buSzPts val="2400"/>
              <a:buNone/>
              <a:defRPr sz="2400"/>
            </a:lvl7pPr>
            <a:lvl8pPr lvl="7">
              <a:spcBef>
                <a:spcPts val="0"/>
              </a:spcBef>
              <a:buSzPts val="2400"/>
              <a:buNone/>
              <a:defRPr sz="2400"/>
            </a:lvl8pPr>
            <a:lvl9pPr lvl="8">
              <a:spcBef>
                <a:spcPts val="0"/>
              </a:spcBef>
              <a:buSzPts val="2400"/>
              <a:buNone/>
              <a:defRPr sz="2400"/>
            </a:lvl9pPr>
          </a:lstStyle>
          <a:p/>
        </p:txBody>
      </p:sp>
      <p:sp>
        <p:nvSpPr>
          <p:cNvPr id="96" name="Shape 96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Shape 97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98" name="Shape 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Shape 10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Shape 101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Shape 103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Shape 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Big 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Shape 106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Shape 10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09" name="Shape 10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0" name="Shape 11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1" name="Shape 1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2" name="Shape 11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3" name="Shape 1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4" name="Shape 1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5" name="Shape 1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6" name="Shape 11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7" name="Shape 11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8" name="Shape 118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19" name="Shape 11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0" name="Shape 12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1" name="Shape 12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2" name="Shape 12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3" name="Shape 1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4" name="Shape 12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indent="0" lvl="0" mar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Shape 125"/>
          <p:cNvSpPr txBox="1"/>
          <p:nvPr>
            <p:ph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8000"/>
              <a:buNone/>
              <a:defRPr sz="8000"/>
            </a:lvl1pPr>
            <a:lvl2pPr lvl="1">
              <a:spcBef>
                <a:spcPts val="0"/>
              </a:spcBef>
              <a:buSzPts val="8000"/>
              <a:buNone/>
              <a:defRPr sz="8000"/>
            </a:lvl2pPr>
            <a:lvl3pPr lvl="2">
              <a:spcBef>
                <a:spcPts val="0"/>
              </a:spcBef>
              <a:buSzPts val="8000"/>
              <a:buNone/>
              <a:defRPr sz="8000"/>
            </a:lvl3pPr>
            <a:lvl4pPr lvl="3">
              <a:spcBef>
                <a:spcPts val="0"/>
              </a:spcBef>
              <a:buSzPts val="8000"/>
              <a:buNone/>
              <a:defRPr sz="8000"/>
            </a:lvl4pPr>
            <a:lvl5pPr lvl="4">
              <a:spcBef>
                <a:spcPts val="0"/>
              </a:spcBef>
              <a:buSzPts val="8000"/>
              <a:buNone/>
              <a:defRPr sz="8000"/>
            </a:lvl5pPr>
            <a:lvl6pPr lvl="5">
              <a:spcBef>
                <a:spcPts val="0"/>
              </a:spcBef>
              <a:buSzPts val="8000"/>
              <a:buNone/>
              <a:defRPr sz="8000"/>
            </a:lvl6pPr>
            <a:lvl7pPr lvl="6">
              <a:spcBef>
                <a:spcPts val="0"/>
              </a:spcBef>
              <a:buSzPts val="8000"/>
              <a:buNone/>
              <a:defRPr sz="8000"/>
            </a:lvl7pPr>
            <a:lvl8pPr lvl="7">
              <a:spcBef>
                <a:spcPts val="0"/>
              </a:spcBef>
              <a:buSzPts val="8000"/>
              <a:buNone/>
              <a:defRPr sz="8000"/>
            </a:lvl8pPr>
            <a:lvl9pPr lvl="8">
              <a:spcBef>
                <a:spcPts val="0"/>
              </a:spcBef>
              <a:buSzPts val="8000"/>
              <a:buNone/>
              <a:defRPr sz="8000"/>
            </a:lvl9pPr>
          </a:lstStyle>
          <a:p/>
        </p:txBody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ts val="1300"/>
              <a:buChar char="●"/>
              <a:defRPr/>
            </a:lvl1pPr>
            <a:lvl2pPr lvl="1">
              <a:spcBef>
                <a:spcPts val="0"/>
              </a:spcBef>
              <a:buSzPts val="1100"/>
              <a:buChar char="○"/>
              <a:defRPr/>
            </a:lvl2pPr>
            <a:lvl3pPr lvl="2">
              <a:spcBef>
                <a:spcPts val="0"/>
              </a:spcBef>
              <a:buSzPts val="1100"/>
              <a:buChar char="■"/>
              <a:defRPr/>
            </a:lvl3pPr>
            <a:lvl4pPr lvl="3">
              <a:spcBef>
                <a:spcPts val="0"/>
              </a:spcBef>
              <a:buSzPts val="1100"/>
              <a:buChar char="●"/>
              <a:defRPr/>
            </a:lvl4pPr>
            <a:lvl5pPr lvl="4">
              <a:spcBef>
                <a:spcPts val="0"/>
              </a:spcBef>
              <a:buSzPts val="1100"/>
              <a:buChar char="○"/>
              <a:defRPr/>
            </a:lvl5pPr>
            <a:lvl6pPr lvl="5">
              <a:spcBef>
                <a:spcPts val="0"/>
              </a:spcBef>
              <a:buSzPts val="1100"/>
              <a:buChar char="■"/>
              <a:defRPr/>
            </a:lvl6pPr>
            <a:lvl7pPr lvl="6">
              <a:spcBef>
                <a:spcPts val="0"/>
              </a:spcBef>
              <a:buSzPts val="1100"/>
              <a:buChar char="●"/>
              <a:defRPr/>
            </a:lvl7pPr>
            <a:lvl8pPr lvl="7">
              <a:spcBef>
                <a:spcPts val="0"/>
              </a:spcBef>
              <a:buSzPts val="1100"/>
              <a:buChar char="○"/>
              <a:defRPr/>
            </a:lvl8pPr>
            <a:lvl9pPr lvl="8">
              <a:spcBef>
                <a:spcPts val="0"/>
              </a:spcBef>
              <a:buSzPts val="1100"/>
              <a:buChar char="■"/>
              <a:defRPr/>
            </a:lvl9pPr>
          </a:lstStyle>
          <a:p/>
        </p:txBody>
      </p:sp>
      <p:sp>
        <p:nvSpPr>
          <p:cNvPr id="127" name="Shape 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indent="0" lvl="0" mar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gif"/><Relationship Id="rId6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6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gif"/><Relationship Id="rId4" Type="http://schemas.openxmlformats.org/officeDocument/2006/relationships/image" Target="../media/image17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gif"/><Relationship Id="rId4" Type="http://schemas.openxmlformats.org/officeDocument/2006/relationships/image" Target="../media/image3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gif"/><Relationship Id="rId4" Type="http://schemas.openxmlformats.org/officeDocument/2006/relationships/image" Target="../media/image11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/>
          <p:nvPr>
            <p:ph type="ctrTitle"/>
          </p:nvPr>
        </p:nvSpPr>
        <p:spPr>
          <a:xfrm>
            <a:off x="3845225" y="1238150"/>
            <a:ext cx="4650600" cy="15789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Focusing on the XY data for sports</a:t>
            </a:r>
          </a:p>
        </p:txBody>
      </p:sp>
      <p:sp>
        <p:nvSpPr>
          <p:cNvPr id="135" name="Shape 135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/>
              <a:t>Anson Wong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type="title"/>
          </p:nvPr>
        </p:nvSpPr>
        <p:spPr>
          <a:xfrm>
            <a:off x="1297500" y="-634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What I am doing these days</a:t>
            </a:r>
          </a:p>
        </p:txBody>
      </p:sp>
      <p:sp>
        <p:nvSpPr>
          <p:cNvPr id="141" name="Shape 141"/>
          <p:cNvSpPr txBox="1"/>
          <p:nvPr>
            <p:ph idx="1" type="body"/>
          </p:nvPr>
        </p:nvSpPr>
        <p:spPr>
          <a:xfrm>
            <a:off x="180125" y="495825"/>
            <a:ext cx="8457300" cy="4495500"/>
          </a:xfrm>
          <a:prstGeom prst="rect">
            <a:avLst/>
          </a:prstGeom>
          <a:solidFill>
            <a:srgbClr val="000000"/>
          </a:solidFill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-419100" lvl="0" marL="457200" rtl="0">
              <a:spcBef>
                <a:spcPts val="0"/>
              </a:spcBef>
              <a:buSzPts val="3000"/>
              <a:buAutoNum type="arabicParenR"/>
            </a:pPr>
            <a:r>
              <a:rPr lang="en" sz="3000"/>
              <a:t> </a:t>
            </a:r>
            <a:r>
              <a:rPr lang="en" sz="3000"/>
              <a:t>Shot-quality model (uses XY data)</a:t>
            </a:r>
            <a:br>
              <a:rPr lang="en" sz="3000"/>
            </a:b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3000"/>
          </a:p>
          <a:p>
            <a:pPr indent="0" lvl="0" marL="0" rtl="0">
              <a:spcBef>
                <a:spcPts val="0"/>
              </a:spcBef>
              <a:buNone/>
            </a:pPr>
            <a:r>
              <a:rPr lang="en" sz="3000"/>
              <a:t>2)  Agent-model to generate XY game strategies</a:t>
            </a:r>
          </a:p>
        </p:txBody>
      </p:sp>
      <p:pic>
        <p:nvPicPr>
          <p:cNvPr id="142" name="Shape 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3125" y="1118012"/>
            <a:ext cx="1051500" cy="1130625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143" name="Shape 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0721" y="1226284"/>
            <a:ext cx="1212481" cy="9141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144" name="Shape 1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1529" y="3163275"/>
            <a:ext cx="2095775" cy="15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Shape 145"/>
          <p:cNvSpPr txBox="1"/>
          <p:nvPr/>
        </p:nvSpPr>
        <p:spPr>
          <a:xfrm>
            <a:off x="3842225" y="2146550"/>
            <a:ext cx="1452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>
                <a:solidFill>
                  <a:srgbClr val="00FF00"/>
                </a:solidFill>
              </a:rPr>
              <a:t>g</a:t>
            </a:r>
            <a:r>
              <a:rPr lang="en">
                <a:solidFill>
                  <a:srgbClr val="00FF00"/>
                </a:solidFill>
              </a:rPr>
              <a:t>ood shot</a:t>
            </a:r>
          </a:p>
        </p:txBody>
      </p:sp>
      <p:sp>
        <p:nvSpPr>
          <p:cNvPr id="146" name="Shape 146"/>
          <p:cNvSpPr txBox="1"/>
          <p:nvPr/>
        </p:nvSpPr>
        <p:spPr>
          <a:xfrm>
            <a:off x="5267125" y="2248625"/>
            <a:ext cx="9174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>
                <a:solidFill>
                  <a:srgbClr val="FF0000"/>
                </a:solidFill>
              </a:rPr>
              <a:t>bad</a:t>
            </a:r>
            <a:r>
              <a:rPr lang="en">
                <a:solidFill>
                  <a:srgbClr val="FF0000"/>
                </a:solidFill>
              </a:rPr>
              <a:t> shot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4323275" y="3485858"/>
            <a:ext cx="22227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</a:rPr>
              <a:t>Learn to develop strategies with a computer automatically!</a:t>
            </a:r>
          </a:p>
        </p:txBody>
      </p:sp>
      <p:pic>
        <p:nvPicPr>
          <p:cNvPr id="148" name="Shape 1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7050" y="1206525"/>
            <a:ext cx="1536776" cy="1178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Shape 149"/>
          <p:cNvCxnSpPr/>
          <p:nvPr/>
        </p:nvCxnSpPr>
        <p:spPr>
          <a:xfrm flipH="1" rot="10800000">
            <a:off x="2801900" y="1693100"/>
            <a:ext cx="720600" cy="99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lg" w="lg" type="none"/>
            <a:tailEnd len="lg" w="lg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type="title"/>
          </p:nvPr>
        </p:nvSpPr>
        <p:spPr>
          <a:xfrm>
            <a:off x="338950" y="-63450"/>
            <a:ext cx="89367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TED talk (July 2015) about state-of-the-art NBA analytics</a:t>
            </a:r>
          </a:p>
        </p:txBody>
      </p:sp>
      <p:pic>
        <p:nvPicPr>
          <p:cNvPr id="155" name="Shape 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00" y="654063"/>
            <a:ext cx="2517031" cy="202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Shape 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9075" y="2020425"/>
            <a:ext cx="3986926" cy="24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Shape 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825" y="3104400"/>
            <a:ext cx="2931525" cy="1727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Shape 158"/>
          <p:cNvCxnSpPr/>
          <p:nvPr/>
        </p:nvCxnSpPr>
        <p:spPr>
          <a:xfrm>
            <a:off x="2936375" y="1962125"/>
            <a:ext cx="311100" cy="1118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59" name="Shape 159"/>
          <p:cNvCxnSpPr/>
          <p:nvPr/>
        </p:nvCxnSpPr>
        <p:spPr>
          <a:xfrm>
            <a:off x="2931913" y="1775925"/>
            <a:ext cx="1608900" cy="915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sp>
        <p:nvSpPr>
          <p:cNvPr id="160" name="Shape 160"/>
          <p:cNvSpPr txBox="1"/>
          <p:nvPr/>
        </p:nvSpPr>
        <p:spPr>
          <a:xfrm>
            <a:off x="5047213" y="1129225"/>
            <a:ext cx="34590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Obtain a measure of ‘shot quality’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/>
          <p:nvPr>
            <p:ph type="title"/>
          </p:nvPr>
        </p:nvSpPr>
        <p:spPr>
          <a:xfrm>
            <a:off x="338950" y="-63450"/>
            <a:ext cx="8547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What I built: a shot-quality automator </a:t>
            </a:r>
          </a:p>
        </p:txBody>
      </p:sp>
      <p:sp>
        <p:nvSpPr>
          <p:cNvPr id="166" name="Shape 166"/>
          <p:cNvSpPr txBox="1"/>
          <p:nvPr/>
        </p:nvSpPr>
        <p:spPr>
          <a:xfrm>
            <a:off x="5984625" y="999350"/>
            <a:ext cx="2864400" cy="2421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XY data of an Atlanta vs Detroit NBA game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% represent shot-quality here</a:t>
            </a:r>
          </a:p>
        </p:txBody>
      </p:sp>
      <p:pic>
        <p:nvPicPr>
          <p:cNvPr id="167" name="Shape 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825" y="850650"/>
            <a:ext cx="5201805" cy="398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>
            <p:ph type="title"/>
          </p:nvPr>
        </p:nvSpPr>
        <p:spPr>
          <a:xfrm>
            <a:off x="338950" y="-63450"/>
            <a:ext cx="8547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What I built: a shot-quality automator </a:t>
            </a:r>
          </a:p>
        </p:txBody>
      </p:sp>
      <p:sp>
        <p:nvSpPr>
          <p:cNvPr id="173" name="Shape 173"/>
          <p:cNvSpPr txBox="1"/>
          <p:nvPr/>
        </p:nvSpPr>
        <p:spPr>
          <a:xfrm>
            <a:off x="97500" y="589075"/>
            <a:ext cx="4572000" cy="85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Using XY + play-by-play data 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-&gt; our </a:t>
            </a:r>
            <a:r>
              <a:rPr lang="en" sz="2400">
                <a:solidFill>
                  <a:srgbClr val="FFFFFF"/>
                </a:solidFill>
              </a:rPr>
              <a:t>player shot quality</a:t>
            </a:r>
          </a:p>
        </p:txBody>
      </p:sp>
      <p:pic>
        <p:nvPicPr>
          <p:cNvPr id="174" name="Shape 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4326" y="1154474"/>
            <a:ext cx="1354855" cy="1456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175" name="Shape 1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0150" y="3104698"/>
            <a:ext cx="2531100" cy="19189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Shape 176"/>
          <p:cNvCxnSpPr/>
          <p:nvPr/>
        </p:nvCxnSpPr>
        <p:spPr>
          <a:xfrm flipH="1" rot="10800000">
            <a:off x="4723225" y="2249625"/>
            <a:ext cx="510300" cy="15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cxnSp>
        <p:nvCxnSpPr>
          <p:cNvPr id="177" name="Shape 177"/>
          <p:cNvCxnSpPr/>
          <p:nvPr/>
        </p:nvCxnSpPr>
        <p:spPr>
          <a:xfrm>
            <a:off x="4753225" y="3460350"/>
            <a:ext cx="1401000" cy="9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sp>
        <p:nvSpPr>
          <p:cNvPr id="178" name="Shape 178"/>
          <p:cNvSpPr txBox="1"/>
          <p:nvPr/>
        </p:nvSpPr>
        <p:spPr>
          <a:xfrm>
            <a:off x="5782425" y="2705250"/>
            <a:ext cx="3603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1800">
                <a:solidFill>
                  <a:srgbClr val="B6D7A8"/>
                </a:solidFill>
              </a:rPr>
              <a:t>Were there b</a:t>
            </a:r>
            <a:r>
              <a:rPr lang="en" sz="1800">
                <a:solidFill>
                  <a:srgbClr val="B6D7A8"/>
                </a:solidFill>
              </a:rPr>
              <a:t>etter options???...</a:t>
            </a:r>
          </a:p>
        </p:txBody>
      </p:sp>
      <p:sp>
        <p:nvSpPr>
          <p:cNvPr id="179" name="Shape 179"/>
          <p:cNvSpPr txBox="1"/>
          <p:nvPr/>
        </p:nvSpPr>
        <p:spPr>
          <a:xfrm>
            <a:off x="4752775" y="500775"/>
            <a:ext cx="4763100" cy="10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1800">
                <a:solidFill>
                  <a:srgbClr val="B6D7A8"/>
                </a:solidFill>
              </a:rPr>
              <a:t>Shot % based on </a:t>
            </a:r>
            <a:r>
              <a:rPr i="1" lang="en" sz="1800" u="sng">
                <a:solidFill>
                  <a:srgbClr val="B6D7A8"/>
                </a:solidFill>
              </a:rPr>
              <a:t>defense</a:t>
            </a:r>
            <a:r>
              <a:rPr i="1" lang="en" sz="1800">
                <a:solidFill>
                  <a:srgbClr val="B6D7A8"/>
                </a:solidFill>
              </a:rPr>
              <a:t> </a:t>
            </a:r>
            <a:r>
              <a:rPr lang="en" sz="1800">
                <a:solidFill>
                  <a:srgbClr val="B6D7A8"/>
                </a:solidFill>
              </a:rPr>
              <a:t>+</a:t>
            </a:r>
            <a:r>
              <a:rPr i="1" lang="en" sz="1800" u="sng">
                <a:solidFill>
                  <a:srgbClr val="B6D7A8"/>
                </a:solidFill>
              </a:rPr>
              <a:t> shot distance</a:t>
            </a:r>
          </a:p>
        </p:txBody>
      </p:sp>
      <p:pic>
        <p:nvPicPr>
          <p:cNvPr id="180" name="Shape 1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2113" y="1203012"/>
            <a:ext cx="1803625" cy="1359726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pic>
      <p:pic>
        <p:nvPicPr>
          <p:cNvPr id="181" name="Shape 1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597075"/>
            <a:ext cx="4418426" cy="3387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/>
          <p:nvPr>
            <p:ph type="title"/>
          </p:nvPr>
        </p:nvSpPr>
        <p:spPr>
          <a:xfrm>
            <a:off x="338950" y="-63450"/>
            <a:ext cx="8547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More about our shot-quality model:</a:t>
            </a:r>
          </a:p>
        </p:txBody>
      </p:sp>
      <p:sp>
        <p:nvSpPr>
          <p:cNvPr id="187" name="Shape 187"/>
          <p:cNvSpPr txBox="1"/>
          <p:nvPr/>
        </p:nvSpPr>
        <p:spPr>
          <a:xfrm>
            <a:off x="875075" y="367525"/>
            <a:ext cx="78756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-381000" lvl="0" marL="457200" rtl="0">
              <a:spcBef>
                <a:spcPts val="0"/>
              </a:spcBef>
              <a:buClr>
                <a:srgbClr val="FFFFFF"/>
              </a:buClr>
              <a:buSzPts val="2400"/>
              <a:buChar char="-"/>
            </a:pPr>
            <a:r>
              <a:rPr lang="en" sz="2400">
                <a:solidFill>
                  <a:srgbClr val="FFFFFF"/>
                </a:solidFill>
              </a:rPr>
              <a:t>Can be upgrade to be more player-specific (i.e. good/bad shooters and defences)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-"/>
            </a:pPr>
            <a:r>
              <a:rPr lang="en" sz="2400">
                <a:solidFill>
                  <a:srgbClr val="FFFFFF"/>
                </a:solidFill>
              </a:rPr>
              <a:t>Define a “defensive” metric for players or formations</a:t>
            </a:r>
            <a:br>
              <a:rPr lang="en" sz="2400">
                <a:solidFill>
                  <a:srgbClr val="FFFFFF"/>
                </a:solidFill>
              </a:rPr>
            </a:b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-"/>
            </a:pPr>
            <a:r>
              <a:rPr lang="en" sz="2400">
                <a:solidFill>
                  <a:srgbClr val="FFFFFF"/>
                </a:solidFill>
              </a:rPr>
              <a:t>Automatically spot missed opportunities to help correct players</a:t>
            </a:r>
            <a:br>
              <a:rPr lang="en" sz="2400">
                <a:solidFill>
                  <a:srgbClr val="FFFFFF"/>
                </a:solidFill>
              </a:rPr>
            </a:br>
          </a:p>
          <a:p>
            <a:pPr indent="-381000" lvl="0" marL="457200" rtl="0">
              <a:spcBef>
                <a:spcPts val="0"/>
              </a:spcBef>
              <a:buClr>
                <a:srgbClr val="FFFFFF"/>
              </a:buClr>
              <a:buSzPts val="2400"/>
              <a:buChar char="-"/>
            </a:pPr>
            <a:r>
              <a:rPr lang="en" sz="2400">
                <a:solidFill>
                  <a:srgbClr val="FFFFFF"/>
                </a:solidFill>
              </a:rPr>
              <a:t>Real-time shot analysis: we can say quickly tell you which plays were historically advantageous and disadvantageous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/>
          <p:nvPr>
            <p:ph type="title"/>
          </p:nvPr>
        </p:nvSpPr>
        <p:spPr>
          <a:xfrm>
            <a:off x="338950" y="-63450"/>
            <a:ext cx="8547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 can we do more with XY models?</a:t>
            </a:r>
          </a:p>
        </p:txBody>
      </p:sp>
      <p:sp>
        <p:nvSpPr>
          <p:cNvPr id="193" name="Shape 193"/>
          <p:cNvSpPr txBox="1"/>
          <p:nvPr/>
        </p:nvSpPr>
        <p:spPr>
          <a:xfrm>
            <a:off x="1254275" y="534325"/>
            <a:ext cx="749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Let’s look at what’s out there: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94" name="Shape 194"/>
          <p:cNvSpPr txBox="1"/>
          <p:nvPr/>
        </p:nvSpPr>
        <p:spPr>
          <a:xfrm>
            <a:off x="1390450" y="964438"/>
            <a:ext cx="74964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1800">
                <a:solidFill>
                  <a:srgbClr val="FFFFFF"/>
                </a:solidFill>
              </a:rPr>
              <a:t>OpenAI’s “Emergent Complexity via Multi-agent cooperation” paper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95" name="Shape 195"/>
          <p:cNvSpPr txBox="1"/>
          <p:nvPr/>
        </p:nvSpPr>
        <p:spPr>
          <a:xfrm>
            <a:off x="215125" y="1677025"/>
            <a:ext cx="86718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Self-play    -&gt;          Sumo/soccer               Run past someone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96" name="Shape 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5250" y="2415675"/>
            <a:ext cx="3228326" cy="18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Shape 1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5802" y="2438722"/>
            <a:ext cx="3052125" cy="17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/>
          <p:nvPr>
            <p:ph type="title"/>
          </p:nvPr>
        </p:nvSpPr>
        <p:spPr>
          <a:xfrm>
            <a:off x="338950" y="-63450"/>
            <a:ext cx="8547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 can we do more?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1222725" y="399100"/>
            <a:ext cx="7496400" cy="4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So the idea I had was to combine: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i) Self-play and deep reinforcement learning</a:t>
            </a:r>
          </a:p>
          <a:p>
            <a:pPr indent="0" lvl="0" mar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ii) Common rewards/rules of sports games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iii) Actual XY data from sports matches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----&gt; build a model that generates “optimal” strategies to win your game, and a way to evaluate player decisions (did they make the “right” play?)</a:t>
            </a:r>
          </a:p>
          <a:p>
            <a:pPr indent="0" lvl="0" mar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------&gt; XY Universe!!!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/>
          <p:nvPr>
            <p:ph type="title"/>
          </p:nvPr>
        </p:nvSpPr>
        <p:spPr>
          <a:xfrm>
            <a:off x="1297500" y="-634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XY Universe: 2D particle strategies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1037175" y="1396700"/>
            <a:ext cx="28101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Avoid bad particles</a:t>
            </a:r>
          </a:p>
        </p:txBody>
      </p:sp>
      <p:sp>
        <p:nvSpPr>
          <p:cNvPr id="210" name="Shape 210"/>
          <p:cNvSpPr txBox="1"/>
          <p:nvPr/>
        </p:nvSpPr>
        <p:spPr>
          <a:xfrm>
            <a:off x="5208350" y="1025650"/>
            <a:ext cx="3263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Avoid bad particles and eat good particles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1068750" y="525325"/>
            <a:ext cx="74964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Start by building the basics:</a:t>
            </a:r>
          </a:p>
        </p:txBody>
      </p:sp>
      <p:pic>
        <p:nvPicPr>
          <p:cNvPr id="212" name="Shape 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675" y="1933099"/>
            <a:ext cx="3542475" cy="265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Shape 2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575" y="1933100"/>
            <a:ext cx="3542475" cy="2656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 txBox="1"/>
          <p:nvPr>
            <p:ph type="title"/>
          </p:nvPr>
        </p:nvSpPr>
        <p:spPr>
          <a:xfrm>
            <a:off x="1297500" y="-634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XY Universe: 2D particle strategies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579975" y="1168100"/>
            <a:ext cx="3772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Avoid bad particle and get to the right asap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5055950" y="1178050"/>
            <a:ext cx="3532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Avoid bad particles and get to the right asap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1068750" y="399100"/>
            <a:ext cx="74964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Then a little more-specific...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222" name="Shape 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63" y="2067650"/>
            <a:ext cx="3772533" cy="28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Shape 2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6208" y="2053600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/>
          <p:nvPr>
            <p:ph type="title"/>
          </p:nvPr>
        </p:nvSpPr>
        <p:spPr>
          <a:xfrm>
            <a:off x="1297500" y="-634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XY Universe: 2D particle strategies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275175" y="1320500"/>
            <a:ext cx="42900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Get to your goal (early stages)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x="4751150" y="1330450"/>
            <a:ext cx="4442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Get to your goal (late stages)</a:t>
            </a:r>
          </a:p>
        </p:txBody>
      </p:sp>
      <p:sp>
        <p:nvSpPr>
          <p:cNvPr id="231" name="Shape 231"/>
          <p:cNvSpPr txBox="1"/>
          <p:nvPr/>
        </p:nvSpPr>
        <p:spPr>
          <a:xfrm>
            <a:off x="1205475" y="588425"/>
            <a:ext cx="74964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Now add in some competitive self-play...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232" name="Shape 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275" y="1981575"/>
            <a:ext cx="3662067" cy="27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Shape 2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425" y="2043425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/>
          <p:nvPr>
            <p:ph type="title"/>
          </p:nvPr>
        </p:nvSpPr>
        <p:spPr>
          <a:xfrm>
            <a:off x="1297500" y="-63450"/>
            <a:ext cx="7038900" cy="9141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/>
              <a:t>XY Universe: 2D particle strategies</a:t>
            </a:r>
          </a:p>
        </p:txBody>
      </p:sp>
      <p:sp>
        <p:nvSpPr>
          <p:cNvPr id="239" name="Shape 239"/>
          <p:cNvSpPr txBox="1"/>
          <p:nvPr/>
        </p:nvSpPr>
        <p:spPr>
          <a:xfrm>
            <a:off x="1205475" y="588425"/>
            <a:ext cx="74964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What’s in the future?…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rPr lang="en" sz="2400">
                <a:solidFill>
                  <a:srgbClr val="FFFFFF"/>
                </a:solidFill>
              </a:rPr>
              <a:t>-&gt; add more complexity, more agents + passing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240" name="Shape 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200" y="1689125"/>
            <a:ext cx="3722125" cy="279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Shape 241"/>
          <p:cNvCxnSpPr/>
          <p:nvPr/>
        </p:nvCxnSpPr>
        <p:spPr>
          <a:xfrm flipH="1" rot="10800000">
            <a:off x="4693200" y="3009950"/>
            <a:ext cx="730500" cy="2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lg" w="lg" type="none"/>
            <a:tailEnd len="lg" w="lg" type="triangle"/>
          </a:ln>
        </p:spPr>
      </p:cxnSp>
      <p:sp>
        <p:nvSpPr>
          <p:cNvPr id="242" name="Shape 242"/>
          <p:cNvSpPr txBox="1"/>
          <p:nvPr/>
        </p:nvSpPr>
        <p:spPr>
          <a:xfrm>
            <a:off x="5381375" y="1693000"/>
            <a:ext cx="3452400" cy="29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1800">
                <a:solidFill>
                  <a:srgbClr val="EFEFEF"/>
                </a:solidFill>
              </a:rPr>
              <a:t>What this all means:</a:t>
            </a:r>
          </a:p>
          <a:p>
            <a:pPr indent="0" lvl="0" marL="0" rtl="0">
              <a:spcBef>
                <a:spcPts val="0"/>
              </a:spcBef>
              <a:buNone/>
            </a:pPr>
            <a:r>
              <a:t/>
            </a:r>
            <a:endParaRPr sz="1800">
              <a:solidFill>
                <a:srgbClr val="EFEFEF"/>
              </a:solidFill>
            </a:endParaRP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-"/>
            </a:pPr>
            <a:r>
              <a:rPr lang="en" sz="1800">
                <a:solidFill>
                  <a:srgbClr val="EFEFEF"/>
                </a:solidFill>
              </a:rPr>
              <a:t>Find strategies and formations based on weaknesses of opponents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-"/>
            </a:pPr>
            <a:r>
              <a:rPr lang="en" sz="1800">
                <a:solidFill>
                  <a:srgbClr val="EFEFEF"/>
                </a:solidFill>
              </a:rPr>
              <a:t>Study tendencies</a:t>
            </a:r>
          </a:p>
          <a:p>
            <a: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-"/>
            </a:pPr>
            <a:r>
              <a:rPr lang="en" sz="1800">
                <a:solidFill>
                  <a:srgbClr val="EFEFEF"/>
                </a:solidFill>
              </a:rPr>
              <a:t>Correct bad habits of players</a:t>
            </a:r>
          </a:p>
          <a:p>
            <a:pPr indent="-342900" lvl="0" marL="457200">
              <a:spcBef>
                <a:spcPts val="0"/>
              </a:spcBef>
              <a:buClr>
                <a:srgbClr val="EFEFEF"/>
              </a:buClr>
              <a:buSzPts val="1800"/>
              <a:buChar char="-"/>
            </a:pPr>
            <a:r>
              <a:rPr lang="en" sz="1800">
                <a:solidFill>
                  <a:srgbClr val="EFEFEF"/>
                </a:solidFill>
              </a:rPr>
              <a:t>Evaluate player skill for trades/draft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4603200" y="2485825"/>
            <a:ext cx="8205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buNone/>
            </a:pPr>
            <a:r>
              <a:rPr lang="en" sz="1800">
                <a:solidFill>
                  <a:srgbClr val="EFEFEF"/>
                </a:solidFill>
              </a:rPr>
              <a:t>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